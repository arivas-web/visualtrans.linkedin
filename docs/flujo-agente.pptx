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9FB3D6"/>
                </a:solidFill>
                <a:latin typeface="Calibri"/>
              </a:rPr>
              <a:t>VISUAL TRANS · LINKEDIN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Cómo trabaja el agente de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9D6EC"/>
                </a:solidFill>
                <a:latin typeface="Calibri"/>
              </a:rPr>
              <a:t>Lo automático, el calendario del mes y los posts sueltos · versión del 27/10/2026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26B1D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9D6EC"/>
                </a:solidFill>
                <a:latin typeface="Calibri"/>
              </a:rPr>
              <a:t>formato: slides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475488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26B1D"/>
                </a:solidFill>
                <a:latin typeface="Cambria"/>
              </a:rPr>
              <a:t>L-V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54864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9D6EC"/>
                </a:solidFill>
                <a:latin typeface="Calibri"/>
              </a:rPr>
              <a:t>aprende cada día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475488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26B1D"/>
                </a:solidFill>
                <a:latin typeface="Cambria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54864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9D6EC"/>
                </a:solidFill>
                <a:latin typeface="Calibri"/>
              </a:rPr>
              <a:t>repeticiones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475488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26B1D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54864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9D6EC"/>
                </a:solidFill>
                <a:latin typeface="Calibri"/>
              </a:rPr>
              <a:t>flujos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233F"/>
                </a:solidFill>
                <a:latin typeface="Cambria"/>
              </a:rPr>
              <a:t>Qué cambia a partir de hoy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440680" cy="2286000"/>
          </a:xfrm>
          <a:prstGeom prst="round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1737360"/>
            <a:ext cx="457200" cy="457200"/>
          </a:xfrm>
          <a:prstGeom prst="ellipse">
            <a:avLst/>
          </a:prstGeom>
          <a:solidFill>
            <a:srgbClr val="1D5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75564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D5FC9"/>
                </a:solidFill>
                <a:latin typeface="Cambria"/>
              </a:rPr>
              <a:t>Siempre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331720"/>
            <a:ext cx="4114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Calendario, lote o post suelto: siempre la misma plantilla. Nada de artifacts, documentos ni Sheets.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440680" cy="2286000"/>
          </a:xfrm>
          <a:prstGeom prst="round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92240" y="1737360"/>
            <a:ext cx="457200" cy="457200"/>
          </a:xfrm>
          <a:prstGeom prst="ellipse">
            <a:avLst/>
          </a:prstGeom>
          <a:solidFill>
            <a:srgbClr val="C8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175564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C83A32"/>
                </a:solidFill>
                <a:latin typeface="Cambria"/>
              </a:rPr>
              <a:t>Lo que no funcionó, fuera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331720"/>
            <a:ext cx="4114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Antes de cada calendario mira los últimos 30 días. Lo que no funcionó entra en una lista de prohibidos y no vuelve.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86200"/>
            <a:ext cx="5440680" cy="2286000"/>
          </a:xfrm>
          <a:prstGeom prst="round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4251960"/>
            <a:ext cx="457200" cy="45720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427024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26B1D"/>
                </a:solidFill>
                <a:latin typeface="Cambria"/>
              </a:rPr>
              <a:t>Escribe como una persona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846320"/>
            <a:ext cx="4114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Algo concreto en las dos primeras líneas, una idea por post, sin relleno, y cada perfil contando de forma distinta.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886200"/>
            <a:ext cx="5440680" cy="2286000"/>
          </a:xfrm>
          <a:prstGeom prst="round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0" y="4251960"/>
            <a:ext cx="457200" cy="457200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427024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E8E5A"/>
                </a:solidFill>
                <a:latin typeface="Cambria"/>
              </a:rPr>
              <a:t>Aprende cada día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4846320"/>
            <a:ext cx="4114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De lunes a viernes revisa lo publicado y lo que tú le dices, y actualiza lo que funciona y lo que 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233F"/>
                </a:solidFill>
                <a:latin typeface="Cambria"/>
              </a:rPr>
              <a:t>El bucle: publica, mide, aprende, planifica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</a:rPr>
              <a:t>Gira cada día; el calendario y cada post salen de lo que el bucle ha aprendido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7760" y="1600200"/>
            <a:ext cx="2286000" cy="960120"/>
          </a:xfrm>
          <a:prstGeom prst="roundRect">
            <a:avLst/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Publicar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Metricool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2514600"/>
            <a:ext cx="2286000" cy="960120"/>
          </a:xfrm>
          <a:prstGeom prst="round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Medir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cada día, últimos 30 días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4343400"/>
            <a:ext cx="2286000" cy="960120"/>
          </a:xfrm>
          <a:prstGeom prst="round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Aprender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qué funciona · qué no se repite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5166360"/>
            <a:ext cx="2286000" cy="960120"/>
          </a:xfrm>
          <a:prstGeom prst="roundRect">
            <a:avLst/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Planificar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retro + calendario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37360" y="4343400"/>
            <a:ext cx="2286000" cy="960120"/>
          </a:xfrm>
          <a:prstGeom prst="roundRect">
            <a:avLst/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Redactar y validar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sin molde, sin relleno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2514600"/>
            <a:ext cx="2286000" cy="960120"/>
          </a:xfrm>
          <a:prstGeom prst="round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Tu OK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calendario y posts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08356" y="2259243"/>
            <a:ext cx="945207" cy="556433"/>
          </a:xfrm>
          <a:prstGeom prst="line">
            <a:avLst/>
          </a:prstGeom>
          <a:ln w="2540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281160" y="3646170"/>
            <a:ext cx="0" cy="525780"/>
          </a:xfrm>
          <a:prstGeom prst="line">
            <a:avLst/>
          </a:prstGeom>
          <a:ln w="2540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216529" y="4985712"/>
            <a:ext cx="928861" cy="498455"/>
          </a:xfrm>
          <a:prstGeom prst="line">
            <a:avLst/>
          </a:prstGeom>
          <a:ln w="2540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4016129" y="4985712"/>
            <a:ext cx="928861" cy="498455"/>
          </a:xfrm>
          <a:prstGeom prst="line">
            <a:avLst/>
          </a:prstGeom>
          <a:ln w="2540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880360" y="3646170"/>
            <a:ext cx="0" cy="525780"/>
          </a:xfrm>
          <a:prstGeom prst="line">
            <a:avLst/>
          </a:prstGeom>
          <a:ln w="2540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007956" y="2259243"/>
            <a:ext cx="945207" cy="556433"/>
          </a:xfrm>
          <a:prstGeom prst="line">
            <a:avLst/>
          </a:prstGeom>
          <a:ln w="2540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709160" y="3246120"/>
            <a:ext cx="2743200" cy="1097280"/>
          </a:xfrm>
          <a:prstGeom prst="round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Tu feedback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"esto no" entra a la lista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de prohibidos en el momento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52360" y="3931920"/>
            <a:ext cx="685800" cy="640080"/>
          </a:xfrm>
          <a:prstGeom prst="line">
            <a:avLst/>
          </a:prstGeom>
          <a:ln w="25400">
            <a:solidFill>
              <a:srgbClr val="F26B1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48640" y="6309359"/>
            <a:ext cx="256032" cy="201168"/>
          </a:xfrm>
          <a:prstGeom prst="roundRect">
            <a:avLst/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626364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778"/>
                </a:solidFill>
                <a:latin typeface="Calibri"/>
              </a:rPr>
              <a:t>Lo hace el agente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26080" y="6309359"/>
            <a:ext cx="256032" cy="201168"/>
          </a:xfrm>
          <a:prstGeom prst="round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73552" y="626364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778"/>
                </a:solidFill>
                <a:latin typeface="Calibri"/>
              </a:rPr>
              <a:t>Te pregunta y espera tu OK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6309359"/>
            <a:ext cx="256032" cy="201168"/>
          </a:xfrm>
          <a:prstGeom prst="round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626364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778"/>
                </a:solidFill>
                <a:latin typeface="Calibri"/>
              </a:rPr>
              <a:t>Aprende / consulta lo aprendido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233F"/>
                </a:solidFill>
                <a:latin typeface="Cambria"/>
              </a:rPr>
              <a:t>Lo que hace solo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</a:rPr>
              <a:t>Rutinas programadas (hora de Madrid). Solo te avisa si hay algo que contar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11064240" cy="777240"/>
          </a:xfrm>
          <a:prstGeom prst="round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1645920" cy="502920"/>
          </a:xfrm>
          <a:prstGeom prst="round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L-V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709928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233F"/>
                </a:solidFill>
                <a:latin typeface="Calibri"/>
              </a:rPr>
              <a:t>Aprendizaje diario · NUEVO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691640"/>
            <a:ext cx="5486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Lee tu feedback y el INBOX, mira las métricas de los últimos 30 días y actualiza lo que funciona y la lista de prohibidos.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14600"/>
            <a:ext cx="11064240" cy="777240"/>
          </a:xfrm>
          <a:prstGeom prst="round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651760"/>
            <a:ext cx="1645920" cy="502920"/>
          </a:xfrm>
          <a:prstGeom prst="roundRect">
            <a:avLst/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Viernes 8:00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624328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233F"/>
                </a:solidFill>
                <a:latin typeface="Calibri"/>
              </a:rPr>
              <a:t>Noticias del sector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06040"/>
            <a:ext cx="5486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Busca noticias de la semana, las guarda y te sugiere 2-3 temas con perfil y ángulo.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29000"/>
            <a:ext cx="11064240" cy="777240"/>
          </a:xfrm>
          <a:prstGeom prst="round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3566160"/>
            <a:ext cx="1645920" cy="502920"/>
          </a:xfrm>
          <a:prstGeom prst="round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Día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538728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233F"/>
                </a:solidFill>
                <a:latin typeface="Calibri"/>
              </a:rPr>
              <a:t>Métricas y aprendizajes del 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520440"/>
            <a:ext cx="5486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Análisis estadístico del mes anterior, experimentos para el siguiente, informe por Telegram.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43400"/>
            <a:ext cx="11064240" cy="777240"/>
          </a:xfrm>
          <a:prstGeom prst="round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4480560"/>
            <a:ext cx="1645920" cy="502920"/>
          </a:xfrm>
          <a:prstGeom prst="round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Día 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4453128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233F"/>
                </a:solidFill>
                <a:latin typeface="Calibri"/>
              </a:rPr>
              <a:t>Calendario del mes siguiente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434840"/>
            <a:ext cx="5486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Retro + calendario en slides y te espera. Tras tu OK redacta y te pasa los posts en slides.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257800"/>
            <a:ext cx="11064240" cy="777240"/>
          </a:xfrm>
          <a:prstGeom prst="round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5394960"/>
            <a:ext cx="1645920" cy="502920"/>
          </a:xfrm>
          <a:prstGeom prst="roundRect">
            <a:avLst/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Tras tu 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5367528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233F"/>
                </a:solidFill>
                <a:latin typeface="Calibri"/>
              </a:rPr>
              <a:t>Gráficas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349240"/>
            <a:ext cx="5486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La rutina del compañero genera las imágenes con Magnific; vuelven a las slides finales.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233F"/>
                </a:solidFill>
                <a:latin typeface="Cambria"/>
              </a:rPr>
              <a:t>Calendario del mes (o de una semana, o de un rango)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</a:rPr>
              <a:t>Lo lanza la rutina del día 15 o tú cuando lo pides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1874519" cy="1051560"/>
          </a:xfrm>
          <a:prstGeom prst="roundRect">
            <a:avLst/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INBOX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tu info suelta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59736" y="2263139"/>
            <a:ext cx="347472" cy="0"/>
          </a:xfrm>
          <a:prstGeom prst="line">
            <a:avLst/>
          </a:prstGeom>
          <a:ln w="2540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43784" y="1737360"/>
            <a:ext cx="1874519" cy="1051560"/>
          </a:xfrm>
          <a:prstGeom prst="roundRect">
            <a:avLst/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Investigación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noticias y normativa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54880" y="2263139"/>
            <a:ext cx="347472" cy="0"/>
          </a:xfrm>
          <a:prstGeom prst="line">
            <a:avLst/>
          </a:prstGeom>
          <a:ln w="2540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38927" y="1737360"/>
            <a:ext cx="1874519" cy="1051560"/>
          </a:xfrm>
          <a:prstGeom prst="round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Retro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qué funcionó y qué no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50023" y="2263139"/>
            <a:ext cx="347473" cy="0"/>
          </a:xfrm>
          <a:prstGeom prst="line">
            <a:avLst/>
          </a:prstGeom>
          <a:ln w="2540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34071" y="1737360"/>
            <a:ext cx="1874519" cy="1051560"/>
          </a:xfrm>
          <a:prstGeom prst="roundRect">
            <a:avLst/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Calendario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cada fila con su porqué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45167" y="2263139"/>
            <a:ext cx="347473" cy="0"/>
          </a:xfrm>
          <a:prstGeom prst="line">
            <a:avLst/>
          </a:prstGeom>
          <a:ln w="2540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729215" y="1737360"/>
            <a:ext cx="1874519" cy="1051560"/>
          </a:xfrm>
          <a:prstGeom prst="roundRect">
            <a:avLst/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Slides del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calendario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652760" y="2834640"/>
            <a:ext cx="0" cy="457200"/>
          </a:xfrm>
          <a:prstGeom prst="line">
            <a:avLst/>
          </a:prstGeom>
          <a:ln w="2540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692640" y="3337560"/>
            <a:ext cx="1920240" cy="822960"/>
          </a:xfrm>
          <a:prstGeom prst="round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Tu OK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al calendario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8778240" y="3749039"/>
            <a:ext cx="868680" cy="0"/>
          </a:xfrm>
          <a:prstGeom prst="line">
            <a:avLst/>
          </a:prstGeom>
          <a:ln w="2540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4800600"/>
            <a:ext cx="1874519" cy="1051560"/>
          </a:xfrm>
          <a:prstGeom prst="round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Metricool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con tu OK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2825496" y="5326380"/>
            <a:ext cx="347472" cy="0"/>
          </a:xfrm>
          <a:prstGeom prst="line">
            <a:avLst/>
          </a:prstGeom>
          <a:ln w="2540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209544" y="4800600"/>
            <a:ext cx="1874519" cy="1051560"/>
          </a:xfrm>
          <a:prstGeom prst="round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Gráficas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con tu OK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5120640" y="5326380"/>
            <a:ext cx="347472" cy="0"/>
          </a:xfrm>
          <a:prstGeom prst="line">
            <a:avLst/>
          </a:prstGeom>
          <a:ln w="2540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504688" y="4800600"/>
            <a:ext cx="1874519" cy="1051560"/>
          </a:xfrm>
          <a:prstGeom prst="round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Tu OK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 los posts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7415783" y="5326380"/>
            <a:ext cx="347473" cy="0"/>
          </a:xfrm>
          <a:prstGeom prst="line">
            <a:avLst/>
          </a:prstGeom>
          <a:ln w="2540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99831" y="4800600"/>
            <a:ext cx="1874519" cy="1051560"/>
          </a:xfrm>
          <a:prstGeom prst="roundRect">
            <a:avLst/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Slides de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los posts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80" y="3337560"/>
            <a:ext cx="1920240" cy="822960"/>
          </a:xfrm>
          <a:prstGeom prst="roundRect">
            <a:avLst/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Redacción ×5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+ validación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0" y="4206240"/>
            <a:ext cx="0" cy="548640"/>
          </a:xfrm>
          <a:prstGeom prst="line">
            <a:avLst/>
          </a:prstGeom>
          <a:ln w="2540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3429000"/>
            <a:ext cx="5943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B6778"/>
                </a:solidFill>
                <a:latin typeface="Calibri"/>
              </a:rPr>
              <a:t>El validador bloquea cualquier post que toque algo</a:t>
            </a:r>
          </a:p>
          <a:p>
            <a:pPr algn="l"/>
            <a:r>
              <a:rPr sz="1400" b="0" i="1">
                <a:solidFill>
                  <a:srgbClr val="5B6778"/>
                </a:solidFill>
                <a:latin typeface="Calibri"/>
              </a:rPr>
              <a:t>de la lista de prohibidos, repita tema o suene a folleto.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6309359"/>
            <a:ext cx="256032" cy="201168"/>
          </a:xfrm>
          <a:prstGeom prst="roundRect">
            <a:avLst/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626364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778"/>
                </a:solidFill>
                <a:latin typeface="Calibri"/>
              </a:rPr>
              <a:t>Lo hace el agente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26080" y="6309359"/>
            <a:ext cx="256032" cy="201168"/>
          </a:xfrm>
          <a:prstGeom prst="round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73552" y="626364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778"/>
                </a:solidFill>
                <a:latin typeface="Calibri"/>
              </a:rPr>
              <a:t>Te pregunta y espera tu OK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6309359"/>
            <a:ext cx="256032" cy="201168"/>
          </a:xfrm>
          <a:prstGeom prst="round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626364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778"/>
                </a:solidFill>
                <a:latin typeface="Calibri"/>
              </a:rPr>
              <a:t>Aprende / consulta lo aprendido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233F"/>
                </a:solidFill>
                <a:latin typeface="Cambria"/>
              </a:rPr>
              <a:t>Post suelto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</a:rPr>
              <a:t>"Hazme un post de Emma sobre…"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1874519" cy="1051560"/>
          </a:xfrm>
          <a:prstGeom prst="round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Lo pides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(si falta el perfil, pregunta)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59736" y="2263139"/>
            <a:ext cx="347472" cy="0"/>
          </a:xfrm>
          <a:prstGeom prst="line">
            <a:avLst/>
          </a:prstGeom>
          <a:ln w="2540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43784" y="1737360"/>
            <a:ext cx="1874519" cy="1051560"/>
          </a:xfrm>
          <a:prstGeom prst="round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Comprueba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prohibidos y últimos 30 días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54880" y="2263139"/>
            <a:ext cx="347472" cy="0"/>
          </a:xfrm>
          <a:prstGeom prst="line">
            <a:avLst/>
          </a:prstGeom>
          <a:ln w="2540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38927" y="1737360"/>
            <a:ext cx="1874519" cy="1051560"/>
          </a:xfrm>
          <a:prstGeom prst="roundRect">
            <a:avLst/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Redacta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con la voz del perfil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50023" y="2263139"/>
            <a:ext cx="347473" cy="0"/>
          </a:xfrm>
          <a:prstGeom prst="line">
            <a:avLst/>
          </a:prstGeom>
          <a:ln w="2540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34071" y="1737360"/>
            <a:ext cx="1874519" cy="1051560"/>
          </a:xfrm>
          <a:prstGeom prst="roundRect">
            <a:avLst/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Slides + texto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en el chat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45167" y="2263139"/>
            <a:ext cx="347473" cy="0"/>
          </a:xfrm>
          <a:prstGeom prst="line">
            <a:avLst/>
          </a:prstGeom>
          <a:ln w="2540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729215" y="1737360"/>
            <a:ext cx="1874519" cy="1051560"/>
          </a:xfrm>
          <a:prstGeom prst="round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Tu OK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o cambios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652760" y="2834640"/>
            <a:ext cx="0" cy="457200"/>
          </a:xfrm>
          <a:prstGeom prst="line">
            <a:avLst/>
          </a:prstGeom>
          <a:ln w="2540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692640" y="3337560"/>
            <a:ext cx="1920240" cy="822960"/>
          </a:xfrm>
          <a:prstGeom prst="round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¿Gráfica y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Metricool?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8778240" y="3749039"/>
            <a:ext cx="868680" cy="0"/>
          </a:xfrm>
          <a:prstGeom prst="line">
            <a:avLst/>
          </a:prstGeom>
          <a:ln w="2540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812280" y="3337560"/>
            <a:ext cx="1920240" cy="822960"/>
          </a:xfrm>
          <a:prstGeom prst="roundRect">
            <a:avLst/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Gráfica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rutina del compañero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0" y="4206240"/>
            <a:ext cx="0" cy="548640"/>
          </a:xfrm>
          <a:prstGeom prst="line">
            <a:avLst/>
          </a:prstGeom>
          <a:ln w="2540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108960" y="4800600"/>
            <a:ext cx="1874519" cy="1051560"/>
          </a:xfrm>
          <a:prstGeom prst="roundRect">
            <a:avLst/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Programado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en Metricool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5020055" y="5326380"/>
            <a:ext cx="347472" cy="0"/>
          </a:xfrm>
          <a:prstGeom prst="line">
            <a:avLst/>
          </a:prstGeom>
          <a:ln w="2540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04104" y="4800600"/>
            <a:ext cx="1874519" cy="1051560"/>
          </a:xfrm>
          <a:prstGeom prst="round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Tu OK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fecha y hora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7315200" y="5326380"/>
            <a:ext cx="347472" cy="0"/>
          </a:xfrm>
          <a:prstGeom prst="line">
            <a:avLst/>
          </a:prstGeom>
          <a:ln w="2540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699248" y="4800600"/>
            <a:ext cx="1874519" cy="1051560"/>
          </a:xfrm>
          <a:prstGeom prst="roundRect">
            <a:avLst/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Slides finales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con imagen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429000"/>
            <a:ext cx="5943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B6778"/>
                </a:solidFill>
                <a:latin typeface="Calibri"/>
              </a:rPr>
              <a:t>Si pides cambios porque algo no te gusta, primero</a:t>
            </a:r>
          </a:p>
          <a:p>
            <a:pPr algn="l"/>
            <a:r>
              <a:rPr sz="1400" b="0" i="1">
                <a:solidFill>
                  <a:srgbClr val="5B6778"/>
                </a:solidFill>
                <a:latin typeface="Calibri"/>
              </a:rPr>
              <a:t>lo apunta como prohibido y luego lo rehace.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6309359"/>
            <a:ext cx="256032" cy="201168"/>
          </a:xfrm>
          <a:prstGeom prst="roundRect">
            <a:avLst/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626364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778"/>
                </a:solidFill>
                <a:latin typeface="Calibri"/>
              </a:rPr>
              <a:t>Lo hace el agente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26080" y="6309359"/>
            <a:ext cx="256032" cy="201168"/>
          </a:xfrm>
          <a:prstGeom prst="round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73552" y="626364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778"/>
                </a:solidFill>
                <a:latin typeface="Calibri"/>
              </a:rPr>
              <a:t>Te pregunta y espera tu OK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6309359"/>
            <a:ext cx="256032" cy="201168"/>
          </a:xfrm>
          <a:prstGeom prst="round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626364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778"/>
                </a:solidFill>
                <a:latin typeface="Calibri"/>
              </a:rPr>
              <a:t>Aprende / consulta lo aprendido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233F"/>
                </a:solidFill>
                <a:latin typeface="Cambria"/>
              </a:rPr>
              <a:t>Qué pasa cuando dices "esto no"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</a:rPr>
              <a:t>Tu criterio manda sobre los datos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874519" cy="1051560"/>
          </a:xfrm>
          <a:prstGeom prst="round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Lo dices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chat, Telegram o INBOX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59736" y="2354580"/>
            <a:ext cx="347472" cy="0"/>
          </a:xfrm>
          <a:prstGeom prst="line">
            <a:avLst/>
          </a:prstGeom>
          <a:ln w="2540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43784" y="1828800"/>
            <a:ext cx="1874519" cy="1051560"/>
          </a:xfrm>
          <a:prstGeom prst="round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Entra en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la lista de prohibidos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54880" y="2354580"/>
            <a:ext cx="347472" cy="0"/>
          </a:xfrm>
          <a:prstGeom prst="line">
            <a:avLst/>
          </a:prstGeom>
          <a:ln w="2540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38927" y="1828800"/>
            <a:ext cx="1874519" cy="1051560"/>
          </a:xfrm>
          <a:prstGeom prst="round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Dura 3 meses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o siempre si lo pides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50023" y="2354580"/>
            <a:ext cx="347473" cy="0"/>
          </a:xfrm>
          <a:prstGeom prst="line">
            <a:avLst/>
          </a:prstGeom>
          <a:ln w="2540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34071" y="1828800"/>
            <a:ext cx="1874519" cy="1051560"/>
          </a:xfrm>
          <a:prstGeom prst="roundRect">
            <a:avLst/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Calendario y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redactor lo evitan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45167" y="2354580"/>
            <a:ext cx="347473" cy="0"/>
          </a:xfrm>
          <a:prstGeom prst="line">
            <a:avLst/>
          </a:prstGeom>
          <a:ln w="2540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729215" y="1828800"/>
            <a:ext cx="1874519" cy="1051560"/>
          </a:xfrm>
          <a:prstGeom prst="roundRect">
            <a:avLst/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El validador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lo bloquea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290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33F"/>
                </a:solidFill>
                <a:latin typeface="Calibri"/>
              </a:rPr>
              <a:t>Ya está en la lista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86200"/>
            <a:ext cx="53035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DeCA, eCMR, factura electrónica y Verifactu</a:t>
            </a:r>
          </a:p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Tariff Code (está quemado)</a:t>
            </a:r>
          </a:p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El mismo molde en todos los perfiles</a:t>
            </a:r>
          </a:p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El mismo texto en dos perfiles el mismo día</a:t>
            </a:r>
          </a:p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Frases de relleno: "aquí viene lo brutal", "no se trata solo de…"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4290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33F"/>
                </a:solidFill>
                <a:latin typeface="Calibri"/>
              </a:rPr>
              <a:t>También entra solo, por 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886200"/>
            <a:ext cx="53035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Un tema o formato que en sus 2 últimas veces quedó</a:t>
            </a:r>
          </a:p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  por debajo del 70 % de la media del perfil</a:t>
            </a:r>
          </a:p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O 3 veces seguidas por debajo de la media</a:t>
            </a:r>
          </a:p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Una sola mala vez: se vigila, no se prohíbe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